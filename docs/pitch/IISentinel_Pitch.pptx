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one-liner, verbatim. Pause two seconds. Then: 'Let me show you, not tell you' — and go straight to the live demo if the room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$150k number — ask the room: what does one hour of downtime cost YOUR operation? Let someone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middle photo for the expansion story: tower generators and fuel theft — thousands of sites, a wound telecoms already budget against. Same stack, zero new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technical judge asks about model accuracy: 'Nobody has accuracy numbers pre-pilot. What we have is the measurement plan — on this slide — agreed in writing before day one.' That answer wins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pressed on the exact price: 'The anchor is per-asset monthly; final pricing lands in the pilot LOI.' Never negotiate the number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ask, then STOP TALKING. Silence closes. First person to speak after the ask 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ngc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B14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117043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A2438"/>
          </a:solidFill>
          <a:ln w="12700">
            <a:solidFill>
              <a:srgbClr val="00B8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1170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25296" y="11704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pPr indent="0" marL="0">
              <a:buNone/>
            </a:pPr>
            <a:r>
              <a:rPr lang="en-US" sz="30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21488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warnings Western plants pay millions for —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$80 a sensor, built for African networks.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66928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infrastructure monitoring  ·  Mining OT  ·  Telecom power  ·  Networks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Ngoni  ·  IISentinel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is the most expensive thing nobody watches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2651760"/>
          </a:xfrm>
          <a:prstGeom prst="roundRect">
            <a:avLst>
              <a:gd name="adj" fmla="val 3136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83464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 of a stalled mine pump — and failures announce themselves days earlier, unheard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24328" cy="2651760"/>
          </a:xfrm>
          <a:prstGeom prst="roundRect">
            <a:avLst>
              <a:gd name="adj" fmla="val 3136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7016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tools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57016" y="283464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operator: SCADA HMIs, an NMS, spreadsheets, clipboards — and the gaps between them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24328" cy="2651760"/>
          </a:xfrm>
          <a:prstGeom prst="roundRect">
            <a:avLst>
              <a:gd name="adj" fmla="val 3136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64224" y="283464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traditional SCADA instrumentation point — so old equipment simply goes unmonitored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maintenance is reactive, monitoring is fragmented, and the oldest equipment — the most likely to fail — is the least watched.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sentinel over every asset — and it explains itself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0B8E6"/>
          </a:solidFill>
          <a:ln w="12700">
            <a:solidFill>
              <a:srgbClr val="00B8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819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everything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OT, telecom power, and network gear on one live map — from PLCs to a 1990s pump with no electronics, via an $80 edge sensor.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35D98B"/>
          </a:solidFill>
          <a:ln w="12700">
            <a:solidFill>
              <a:srgbClr val="35D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don't react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each machine's normal, flags deviation days before static thresholds trip, and estimates time-to-failure from live trends.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502920" cy="502920"/>
          </a:xfrm>
          <a:prstGeom prst="ellipse">
            <a:avLst/>
          </a:prstGeom>
          <a:solidFill>
            <a:srgbClr val="FFC94D"/>
          </a:solidFill>
          <a:ln w="12700">
            <a:solidFill>
              <a:srgbClr val="FFC9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6301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where people 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9502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WhatsApp, and email in seconds. No app installs. 2G is enough — designed for real African network conditions.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score decomposes into readable factors — auditable by any engineer, not a black box.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environments. One platform. Modular editions.</a:t>
            </a:r>
            <a:endParaRPr lang="en-US" sz="3200" dirty="0"/>
          </a:p>
        </p:txBody>
      </p:sp>
      <p:pic>
        <p:nvPicPr>
          <p:cNvPr id="4" name="Image 0" descr="miningc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2624328" cy="1783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2624328" cy="1783080"/>
          </a:xfrm>
          <a:prstGeom prst="rect">
            <a:avLst/>
          </a:prstGeom>
          <a:solidFill>
            <a:srgbClr val="050B14">
              <a:alpha val="4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OT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624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conveyors, ventilation, blast-system integrity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146304" cy="146304"/>
          </a:xfrm>
          <a:prstGeom prst="ellipse">
            <a:avLst/>
          </a:prstGeom>
          <a:solidFill>
            <a:srgbClr val="FFC94D"/>
          </a:solidFill>
          <a:ln/>
        </p:spPr>
      </p:sp>
      <p:pic>
        <p:nvPicPr>
          <p:cNvPr id="9" name="Image 1" descr="telecomc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5848" y="1554480"/>
            <a:ext cx="2624328" cy="1783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55848" y="1554480"/>
            <a:ext cx="2624328" cy="1783080"/>
          </a:xfrm>
          <a:prstGeom prst="rect">
            <a:avLst/>
          </a:prstGeom>
          <a:solidFill>
            <a:srgbClr val="050B14">
              <a:alpha val="4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3493008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&amp; tower power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55848" y="3520440"/>
            <a:ext cx="2624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stations, links — and generator fuel, the silent thief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93008" y="1691640"/>
            <a:ext cx="146304" cy="146304"/>
          </a:xfrm>
          <a:prstGeom prst="ellipse">
            <a:avLst/>
          </a:prstGeom>
          <a:solidFill>
            <a:srgbClr val="00B8E6"/>
          </a:solidFill>
          <a:ln/>
        </p:spPr>
      </p:sp>
      <p:pic>
        <p:nvPicPr>
          <p:cNvPr id="14" name="Image 2" descr="networkc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63056" y="1554480"/>
            <a:ext cx="2624328" cy="17830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63056" y="1554480"/>
            <a:ext cx="2624328" cy="1783080"/>
          </a:xfrm>
          <a:prstGeom prst="rect">
            <a:avLst/>
          </a:prstGeom>
          <a:solidFill>
            <a:srgbClr val="050B14">
              <a:alpha val="45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300216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63056" y="3520440"/>
            <a:ext cx="2624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Routers, switches, WAN links — real ICMP, real LAN truth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0216" y="1691640"/>
            <a:ext cx="146304" cy="146304"/>
          </a:xfrm>
          <a:prstGeom prst="ellipse">
            <a:avLst/>
          </a:prstGeom>
          <a:solidFill>
            <a:srgbClr val="35D98B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Editions ship independently — a client buys Mining OT today, adds Tower Power tomorrow. One codebase, five SKUs.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to alert in under fifteen seconds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384048" cy="384048"/>
          </a:xfrm>
          <a:prstGeom prst="ellipse">
            <a:avLst/>
          </a:prstGeom>
          <a:solidFill>
            <a:srgbClr val="00B8E6"/>
          </a:solidFill>
          <a:ln w="12700">
            <a:solidFill>
              <a:srgbClr val="00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956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 EDGE NODE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8716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+ sensors on dumb equipment; SNMP/REST bridges for modern gear. Buffers to disk when the link drops — loses nothing.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90672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1938528"/>
            <a:ext cx="384048" cy="384048"/>
          </a:xfrm>
          <a:prstGeom prst="ellipse">
            <a:avLst/>
          </a:prstGeom>
          <a:solidFill>
            <a:srgbClr val="35D98B"/>
          </a:solidFill>
          <a:ln w="12700">
            <a:solidFill>
              <a:srgbClr val="35D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87952" y="1956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75888" y="248716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0–100 per asset, anomaly detection on your plant's learned normal, time-to-failure from live trends.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16752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1938528"/>
            <a:ext cx="384048" cy="384048"/>
          </a:xfrm>
          <a:prstGeom prst="ellipse">
            <a:avLst/>
          </a:prstGeom>
          <a:solidFill>
            <a:srgbClr val="FFC94D"/>
          </a:solidFill>
          <a:ln w="12700">
            <a:solidFill>
              <a:srgbClr val="FFC9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14032" y="1956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01968" y="2487168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/ email to the right person, with the reason attached. Weekly PDF to the engineering manager, automatically.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by design: intermittent connectivity is a first-class constraint here, not an edge case.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AI, HONESTLY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your plant — and shows its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3017520"/>
          </a:xfrm>
          <a:prstGeom prst="roundRect">
            <a:avLst>
              <a:gd name="adj" fmla="val 2727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rule-based scoring an engineer can read. The anomaly detector starts learning your equipment's baseline from the first hour.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telemetry only — persisted, retrained on your data, provenance visible in the product. No synthetic values are ever authoritative.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decomposes:  Thermal 78°C  −15.9   ·   Latency  −4.2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645920"/>
            <a:ext cx="3703320" cy="3017520"/>
          </a:xfrm>
          <a:prstGeom prst="roundRect">
            <a:avLst>
              <a:gd name="adj" fmla="val 2727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metrics — defined before day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38928" y="2331720"/>
            <a:ext cx="109728" cy="109728"/>
          </a:xfrm>
          <a:prstGeom prst="ellipse">
            <a:avLst/>
          </a:prstGeom>
          <a:solidFill>
            <a:srgbClr val="00B8E6"/>
          </a:solidFill>
          <a:ln/>
        </p:spPr>
      </p:sp>
      <p:sp>
        <p:nvSpPr>
          <p:cNvPr id="13" name="Text 11"/>
          <p:cNvSpPr/>
          <p:nvPr/>
        </p:nvSpPr>
        <p:spPr>
          <a:xfrm>
            <a:off x="5358384" y="22311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precision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20840" y="2231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technician-confirmed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38928" y="2898648"/>
            <a:ext cx="109728" cy="109728"/>
          </a:xfrm>
          <a:prstGeom prst="ellipse">
            <a:avLst/>
          </a:prstGeom>
          <a:solidFill>
            <a:srgbClr val="00B8E6"/>
          </a:solidFill>
          <a:ln/>
        </p:spPr>
      </p:sp>
      <p:sp>
        <p:nvSpPr>
          <p:cNvPr id="16" name="Text 14"/>
          <p:cNvSpPr/>
          <p:nvPr/>
        </p:nvSpPr>
        <p:spPr>
          <a:xfrm>
            <a:off x="5358384" y="27980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20840" y="27980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failure flagged before the crew notices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38928" y="3465576"/>
            <a:ext cx="109728" cy="109728"/>
          </a:xfrm>
          <a:prstGeom prst="ellipse">
            <a:avLst/>
          </a:prstGeom>
          <a:solidFill>
            <a:srgbClr val="00B8E6"/>
          </a:solidFill>
          <a:ln/>
        </p:spPr>
      </p:sp>
      <p:sp>
        <p:nvSpPr>
          <p:cNvPr id="19" name="Text 17"/>
          <p:cNvSpPr/>
          <p:nvPr/>
        </p:nvSpPr>
        <p:spPr>
          <a:xfrm>
            <a:off x="5358384" y="33649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2084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per device-week after calibration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38928" y="4032504"/>
            <a:ext cx="109728" cy="109728"/>
          </a:xfrm>
          <a:prstGeom prst="ellipse">
            <a:avLst/>
          </a:prstGeom>
          <a:solidFill>
            <a:srgbClr val="00B8E6"/>
          </a:solidFill>
          <a:ln/>
        </p:spPr>
      </p:sp>
      <p:sp>
        <p:nvSpPr>
          <p:cNvPr id="22" name="Text 20"/>
          <p:cNvSpPr/>
          <p:nvPr/>
        </p:nvSpPr>
        <p:spPr>
          <a:xfrm>
            <a:off x="5358384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PDF, zero human effort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HERE,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others ignore are our design spec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2606040"/>
          </a:xfrm>
          <a:prstGeom prst="roundRect">
            <a:avLst>
              <a:gd name="adj" fmla="val 3158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monitoring assumes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IISentinel is built for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connectivity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92040" y="22860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buffering, auto-flush on reconnect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instrumentation points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92040" y="2788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 Pi nodes on 1990s equipment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apps + dashboards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3291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on 2G, WhatsApp, voice briefings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hosted in EU / US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3794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Johannesburg hosting — ~30ms from Harare, in-region data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every pilot adds to an anonymized cross-site failure dataset for African industry. The software can be copied in months — that data never can be.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first. The edition system is the roadmap.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16276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OT pilots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463040" y="19476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Zimbabwe: one shaft, ten assets, 30 days. Highest downtime cost, worst tooling, strongest safety narrative.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15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power for telecoms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63040" y="2971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runtime, battery state, fuel theft — thousands of sites, existing budget line, zero NMS competition.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3989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6758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SADC expansion + data products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63040" y="39959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Zambian copperbelt, SA, Botswana. ESG/compliance reporting attached to budgets that already exist.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24/7 first-line support through local systems-integrator partners — we stay the platform layer.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one hour of downtime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46888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1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1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F1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Mining OT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$8–15 / asset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per-shaft bundles negotiable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 Power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per-site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fuel-theft ROI carries the sale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sensor 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~$120 installed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at cost + fitting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pilot (≤10 assets)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~$500, or free vs signed LOI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FB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metrics agreed in writing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avoided hour of pump downtime pays for the platform for a year.”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shaft to a regional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365760" cy="365760"/>
          </a:xfrm>
          <a:prstGeom prst="ellipse">
            <a:avLst/>
          </a:prstGeom>
          <a:solidFill>
            <a:srgbClr val="00B8E6"/>
          </a:solidFill>
          <a:ln w="12700">
            <a:solidFill>
              <a:srgbClr val="00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pilot live · SI partner signed · pilot metrics published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78308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965960"/>
            <a:ext cx="365760" cy="365760"/>
          </a:xfrm>
          <a:prstGeom prst="ellipse">
            <a:avLst/>
          </a:prstGeom>
          <a:solidFill>
            <a:srgbClr val="35D98B"/>
          </a:solidFill>
          <a:ln w="12700">
            <a:solidFill>
              <a:srgbClr val="35D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5146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mining sites · Tower Power Edition in field trial with a tower 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965960"/>
            <a:ext cx="365760" cy="365760"/>
          </a:xfrm>
          <a:prstGeom prst="ellipse">
            <a:avLst/>
          </a:prstGeom>
          <a:solidFill>
            <a:srgbClr val="FFC94D"/>
          </a:solidFill>
          <a:ln w="12700">
            <a:solidFill>
              <a:srgbClr val="FFC9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scale-out · IEC 62443 alignment work · ESG report module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783080"/>
            <a:ext cx="1920240" cy="2377440"/>
          </a:xfrm>
          <a:prstGeom prst="roundRect">
            <a:avLst>
              <a:gd name="adj" fmla="val 4286"/>
            </a:avLst>
          </a:prstGeom>
          <a:solidFill>
            <a:srgbClr val="0E1E33"/>
          </a:solidFill>
          <a:ln w="9525">
            <a:solidFill>
              <a:srgbClr val="2233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965960"/>
            <a:ext cx="365760" cy="365760"/>
          </a:xfrm>
          <a:prstGeom prst="ellipse">
            <a:avLst/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2514600"/>
            <a:ext cx="1600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SADC entry (Zambia/SA) · anonymized failure-dataset v1 · seed raise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 today: live map, XAI, cascade simulation, LAN monitoring, editions, Pi collectors — all deployed and demo-ready.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lecomc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B14">
              <a:alpha val="8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16002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30-day pilot site.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 of intent.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32004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assets, one shaft, metrics agreed in writing. If we don't catch a failure before your crew does, you owe nothing.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warnings Western plants pay millions for — at $80 a sensor, built for African networks.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IISentinel</dc:title>
  <dc:subject>PptxGenJS Presentation</dc:subject>
  <dc:creator>Ngoni</dc:creator>
  <cp:lastModifiedBy>Ngoni</cp:lastModifiedBy>
  <cp:revision>1</cp:revision>
  <dcterms:created xsi:type="dcterms:W3CDTF">2026-07-09T14:11:49Z</dcterms:created>
  <dcterms:modified xsi:type="dcterms:W3CDTF">2026-07-09T14:11:49Z</dcterms:modified>
</cp:coreProperties>
</file>